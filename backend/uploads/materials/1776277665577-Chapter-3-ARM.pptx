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31" autoAdjust="0"/>
    <p:restoredTop sz="94660"/>
  </p:normalViewPr>
  <p:slideViewPr>
    <p:cSldViewPr snapToGrid="0">
      <p:cViewPr varScale="1">
        <p:scale>
          <a:sx n="86" d="100"/>
          <a:sy n="86" d="100"/>
        </p:scale>
        <p:origin x="72"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9ABD8-064D-29A6-3378-415E029D7A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C88A39-88F9-711F-4BB8-9808269C45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D0D03A-8D4C-0B22-1D2F-E1A55682BA02}"/>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5" name="Footer Placeholder 4">
            <a:extLst>
              <a:ext uri="{FF2B5EF4-FFF2-40B4-BE49-F238E27FC236}">
                <a16:creationId xmlns:a16="http://schemas.microsoft.com/office/drawing/2014/main" id="{37E9A528-548E-A51C-768D-1F5AF9F32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BD7AB-B867-AF53-8F02-3B80590C4A1F}"/>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216758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F602-8F9B-D2B4-042A-402524B9CD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AD0E51-E117-AC02-31BB-9611B5FAC2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C1FD40-A68B-7738-C079-DBA39D2304CF}"/>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5" name="Footer Placeholder 4">
            <a:extLst>
              <a:ext uri="{FF2B5EF4-FFF2-40B4-BE49-F238E27FC236}">
                <a16:creationId xmlns:a16="http://schemas.microsoft.com/office/drawing/2014/main" id="{14AB3C87-9A01-6836-9354-EECFD9235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113A7-63D8-9ECE-E561-C3779209B9DD}"/>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390924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BE88F-3665-34EA-007A-4C0183D224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833C64-0A42-FCAA-FA6B-0711EAB1E3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2BB60B-70DD-D752-DF42-A7A9BA9FBCB2}"/>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5" name="Footer Placeholder 4">
            <a:extLst>
              <a:ext uri="{FF2B5EF4-FFF2-40B4-BE49-F238E27FC236}">
                <a16:creationId xmlns:a16="http://schemas.microsoft.com/office/drawing/2014/main" id="{7B64211A-E893-D236-1E08-79402EA73D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E5B0D3-2698-774C-5A2F-0C5914283361}"/>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2942251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C9AE-AB24-5864-D4F1-FD3FEB252A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807EBB-3CCB-BD3E-85B8-B16C3158F6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F63B97-F293-C3F2-6030-687327665E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A8C139-BE64-4C43-EF73-BB47827C59E6}"/>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6" name="Footer Placeholder 5">
            <a:extLst>
              <a:ext uri="{FF2B5EF4-FFF2-40B4-BE49-F238E27FC236}">
                <a16:creationId xmlns:a16="http://schemas.microsoft.com/office/drawing/2014/main" id="{70AC1F32-1A80-4D35-1442-F34AF5FB0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55F0F8-A036-56AF-73EC-BB324A44BD10}"/>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1131941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C9271-0FF0-242D-E03B-FE3EF0841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9E863D-FB44-9E62-E674-D0F457C3A3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134EBE-42B8-CD1C-9C76-1D116D3F92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0C499E-48E8-EBF1-3A5D-9A10A375E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10F8FF-9B05-8921-187B-2AD6DB0FDF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A05E-5AAD-36E8-5CDB-B773C4531F8D}"/>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8" name="Footer Placeholder 7">
            <a:extLst>
              <a:ext uri="{FF2B5EF4-FFF2-40B4-BE49-F238E27FC236}">
                <a16:creationId xmlns:a16="http://schemas.microsoft.com/office/drawing/2014/main" id="{7DB7DFB5-71DA-9313-B22B-8756C39122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8CA788-9580-2CA1-C12F-66088E8730FC}"/>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2257768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4587-7663-2E9A-04CF-3DEAB8665C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F8EEBF-48EF-3CFC-3193-E6DB76D6FDDC}"/>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4" name="Footer Placeholder 3">
            <a:extLst>
              <a:ext uri="{FF2B5EF4-FFF2-40B4-BE49-F238E27FC236}">
                <a16:creationId xmlns:a16="http://schemas.microsoft.com/office/drawing/2014/main" id="{D88114A8-B9E5-F3DA-6AD3-81AEC7859D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6D0CF3-54CA-1796-3313-5539A6352915}"/>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2332164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978DE-ED91-4078-D194-C98E4AEC0169}"/>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3" name="Footer Placeholder 2">
            <a:extLst>
              <a:ext uri="{FF2B5EF4-FFF2-40B4-BE49-F238E27FC236}">
                <a16:creationId xmlns:a16="http://schemas.microsoft.com/office/drawing/2014/main" id="{FA579235-8761-E224-9326-FBE74FDB08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06A3C1-9561-4F1C-B9D0-5320FA4E0DFE}"/>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1026844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63960-24D1-224C-8A3C-DEE6CEBD0C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041502-E95D-BB37-F241-D6AB16A3C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8E7384-F5F8-ECB3-ACFD-272B8564AE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E42B09-BBEA-FF23-A211-F611FDCCD980}"/>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6" name="Footer Placeholder 5">
            <a:extLst>
              <a:ext uri="{FF2B5EF4-FFF2-40B4-BE49-F238E27FC236}">
                <a16:creationId xmlns:a16="http://schemas.microsoft.com/office/drawing/2014/main" id="{94C7AC91-E3D7-A591-C1B7-191EB0D68A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F6F853-C8F5-E45C-BCAB-4BC46E84D7E4}"/>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2368489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96B9-D1F5-AA55-1E88-F3D2344EBB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A5BEFA-E48C-F5E6-5BA3-3C9FB00D81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A0A157-6869-B2AD-493D-AC3C23BDA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26699F-AE90-875D-9134-D481DC05D9DF}"/>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6" name="Footer Placeholder 5">
            <a:extLst>
              <a:ext uri="{FF2B5EF4-FFF2-40B4-BE49-F238E27FC236}">
                <a16:creationId xmlns:a16="http://schemas.microsoft.com/office/drawing/2014/main" id="{A7C7A7B7-E7C3-ACFF-FA6C-71A490A63D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62A65A-40F6-365E-7EB3-B7616DD63095}"/>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3721291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5B5B3-28C2-CFA7-0631-7CD219F774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23DFEBC-E6F1-1010-3C6C-CA1BADD974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5E167B-3E44-15A9-8C0C-BB2F93AB28AC}"/>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5" name="Footer Placeholder 4">
            <a:extLst>
              <a:ext uri="{FF2B5EF4-FFF2-40B4-BE49-F238E27FC236}">
                <a16:creationId xmlns:a16="http://schemas.microsoft.com/office/drawing/2014/main" id="{976863EB-0E59-7342-D9D5-52BEBC21DB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02E789-BAA9-DC20-B059-3D4FA0726137}"/>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3092506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81A462-D7EB-03C3-4EEE-815AF8CB70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CA38DF-4F3D-01D9-DE6D-99C9099D80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9B646-7EF0-0ACA-AAE1-7DE7E5A4A615}"/>
              </a:ext>
            </a:extLst>
          </p:cNvPr>
          <p:cNvSpPr>
            <a:spLocks noGrp="1"/>
          </p:cNvSpPr>
          <p:nvPr>
            <p:ph type="dt" sz="half" idx="10"/>
          </p:nvPr>
        </p:nvSpPr>
        <p:spPr/>
        <p:txBody>
          <a:bodyPr/>
          <a:lstStyle/>
          <a:p>
            <a:fld id="{A875EC2D-7327-4A74-930F-80FB69B6E510}" type="datetimeFigureOut">
              <a:rPr lang="en-US" smtClean="0"/>
              <a:t>3/26/2025</a:t>
            </a:fld>
            <a:endParaRPr lang="en-US"/>
          </a:p>
        </p:txBody>
      </p:sp>
      <p:sp>
        <p:nvSpPr>
          <p:cNvPr id="5" name="Footer Placeholder 4">
            <a:extLst>
              <a:ext uri="{FF2B5EF4-FFF2-40B4-BE49-F238E27FC236}">
                <a16:creationId xmlns:a16="http://schemas.microsoft.com/office/drawing/2014/main" id="{BC3B1A63-84B4-B939-2C2A-287FB78DB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8E31C-87DE-FDE5-18F3-104083260FBC}"/>
              </a:ext>
            </a:extLst>
          </p:cNvPr>
          <p:cNvSpPr>
            <a:spLocks noGrp="1"/>
          </p:cNvSpPr>
          <p:nvPr>
            <p:ph type="sldNum" sz="quarter" idx="12"/>
          </p:nvPr>
        </p:nvSpPr>
        <p:spPr/>
        <p:txBody>
          <a:bodyPr/>
          <a:lstStyle/>
          <a:p>
            <a:fld id="{3A36F465-73C0-4A5F-980B-B7856C791C5D}" type="slidenum">
              <a:rPr lang="en-US" smtClean="0"/>
              <a:t>‹#›</a:t>
            </a:fld>
            <a:endParaRPr lang="en-US"/>
          </a:p>
        </p:txBody>
      </p:sp>
    </p:spTree>
    <p:extLst>
      <p:ext uri="{BB962C8B-B14F-4D97-AF65-F5344CB8AC3E}">
        <p14:creationId xmlns:p14="http://schemas.microsoft.com/office/powerpoint/2010/main" val="1177481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434976-4790-95CE-CE37-E533C8CBC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6CB738-C044-EC49-A6F1-41B1154C56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DC6E8-1C01-F260-65CC-BC4927D0B9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5EC2D-7327-4A74-930F-80FB69B6E510}" type="datetimeFigureOut">
              <a:rPr lang="en-US" smtClean="0"/>
              <a:t>3/26/2025</a:t>
            </a:fld>
            <a:endParaRPr lang="en-US"/>
          </a:p>
        </p:txBody>
      </p:sp>
      <p:sp>
        <p:nvSpPr>
          <p:cNvPr id="5" name="Footer Placeholder 4">
            <a:extLst>
              <a:ext uri="{FF2B5EF4-FFF2-40B4-BE49-F238E27FC236}">
                <a16:creationId xmlns:a16="http://schemas.microsoft.com/office/drawing/2014/main" id="{8FE32FC9-58F6-F2CD-67D9-5AB9BF29BF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9CEA38-12BC-CF70-2E47-5F95E545D2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36F465-73C0-4A5F-980B-B7856C791C5D}" type="slidenum">
              <a:rPr lang="en-US" smtClean="0"/>
              <a:t>‹#›</a:t>
            </a:fld>
            <a:endParaRPr lang="en-US"/>
          </a:p>
        </p:txBody>
      </p:sp>
    </p:spTree>
    <p:extLst>
      <p:ext uri="{BB962C8B-B14F-4D97-AF65-F5344CB8AC3E}">
        <p14:creationId xmlns:p14="http://schemas.microsoft.com/office/powerpoint/2010/main" val="1298978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BAB14B-BAF0-E50B-3328-4DE76E6E34FA}"/>
              </a:ext>
            </a:extLst>
          </p:cNvPr>
          <p:cNvSpPr>
            <a:spLocks noGrp="1"/>
          </p:cNvSpPr>
          <p:nvPr>
            <p:ph idx="1"/>
          </p:nvPr>
        </p:nvSpPr>
        <p:spPr>
          <a:xfrm>
            <a:off x="2624537" y="1821818"/>
            <a:ext cx="7475744" cy="2519363"/>
          </a:xfrm>
        </p:spPr>
        <p:txBody>
          <a:bodyPr>
            <a:normAutofit/>
          </a:bodyPr>
          <a:lstStyle/>
          <a:p>
            <a:pPr marL="0" indent="0" algn="ctr">
              <a:buNone/>
            </a:pPr>
            <a:r>
              <a:rPr lang="en-US" sz="5400" b="1" dirty="0"/>
              <a:t>Chapter 3 </a:t>
            </a:r>
          </a:p>
          <a:p>
            <a:pPr marL="0" indent="0" algn="ctr">
              <a:buNone/>
            </a:pPr>
            <a:r>
              <a:rPr lang="en-US" sz="4800" b="1" dirty="0"/>
              <a:t>Archival Appraisal </a:t>
            </a:r>
          </a:p>
        </p:txBody>
      </p:sp>
    </p:spTree>
    <p:extLst>
      <p:ext uri="{BB962C8B-B14F-4D97-AF65-F5344CB8AC3E}">
        <p14:creationId xmlns:p14="http://schemas.microsoft.com/office/powerpoint/2010/main" val="122067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18EE9-3554-61F3-2C7E-09BAF3C9CEB8}"/>
              </a:ext>
            </a:extLst>
          </p:cNvPr>
          <p:cNvSpPr>
            <a:spLocks noGrp="1"/>
          </p:cNvSpPr>
          <p:nvPr>
            <p:ph idx="1"/>
          </p:nvPr>
        </p:nvSpPr>
        <p:spPr>
          <a:xfrm>
            <a:off x="1813932" y="869795"/>
            <a:ext cx="9196039" cy="5307168"/>
          </a:xfrm>
        </p:spPr>
        <p:txBody>
          <a:bodyPr>
            <a:normAutofit/>
          </a:bodyPr>
          <a:lstStyle/>
          <a:p>
            <a:pPr marL="0" indent="0" algn="ctr">
              <a:buNone/>
            </a:pPr>
            <a:r>
              <a:rPr lang="en-US" sz="3200" b="1" dirty="0"/>
              <a:t>What is Appraisal?</a:t>
            </a:r>
          </a:p>
          <a:p>
            <a:pPr>
              <a:lnSpc>
                <a:spcPct val="150000"/>
              </a:lnSpc>
            </a:pPr>
            <a:r>
              <a:rPr lang="en-US" dirty="0">
                <a:solidFill>
                  <a:srgbClr val="FF0000"/>
                </a:solidFill>
              </a:rPr>
              <a:t>Appraisal</a:t>
            </a:r>
            <a:r>
              <a:rPr lang="en-US" b="1" dirty="0"/>
              <a:t> </a:t>
            </a:r>
            <a:r>
              <a:rPr lang="en-US" dirty="0"/>
              <a:t>is the process of evaluating records to determine how long to keep them, including to decide if the records have sufficient long-term value to warrant the expense of preservation in an archives.</a:t>
            </a:r>
          </a:p>
          <a:p>
            <a:pPr>
              <a:lnSpc>
                <a:spcPct val="150000"/>
              </a:lnSpc>
            </a:pPr>
            <a:r>
              <a:rPr lang="en-US" dirty="0">
                <a:solidFill>
                  <a:srgbClr val="FF0000"/>
                </a:solidFill>
              </a:rPr>
              <a:t>Appraisal</a:t>
            </a:r>
            <a:r>
              <a:rPr lang="en-US" dirty="0"/>
              <a:t> is fundamental to the archival endeavor, because appraisal determines what records will be kept and what records can be disposed.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70457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A971-F341-3389-C157-6338311FAD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64033F-B6E7-6C00-967A-209FCDAD0EA5}"/>
              </a:ext>
            </a:extLst>
          </p:cNvPr>
          <p:cNvSpPr>
            <a:spLocks noGrp="1"/>
          </p:cNvSpPr>
          <p:nvPr>
            <p:ph idx="1"/>
          </p:nvPr>
        </p:nvSpPr>
        <p:spPr>
          <a:xfrm>
            <a:off x="1813932" y="401444"/>
            <a:ext cx="9196039" cy="6214946"/>
          </a:xfrm>
        </p:spPr>
        <p:txBody>
          <a:bodyPr>
            <a:normAutofit fontScale="92500" lnSpcReduction="10000"/>
          </a:bodyPr>
          <a:lstStyle/>
          <a:p>
            <a:pPr marL="0" indent="0" algn="ctr">
              <a:buNone/>
            </a:pPr>
            <a:r>
              <a:rPr lang="en-US" sz="3200" b="1" dirty="0"/>
              <a:t>What is Appraisal?				Con’t…</a:t>
            </a:r>
          </a:p>
          <a:p>
            <a:pPr>
              <a:lnSpc>
                <a:spcPct val="150000"/>
              </a:lnSpc>
            </a:pPr>
            <a:r>
              <a:rPr lang="en-US" dirty="0"/>
              <a:t>An </a:t>
            </a:r>
            <a:r>
              <a:rPr lang="en-US" b="1" dirty="0"/>
              <a:t>appraisal program </a:t>
            </a:r>
            <a:r>
              <a:rPr lang="en-US" dirty="0"/>
              <a:t>is essential for organizations seeking to conform to the international standard for records management, ISO 15489.</a:t>
            </a:r>
          </a:p>
          <a:p>
            <a:pPr>
              <a:lnSpc>
                <a:spcPct val="150000"/>
              </a:lnSpc>
            </a:pPr>
            <a:r>
              <a:rPr lang="en-US" dirty="0"/>
              <a:t>Appraisal has been defined as the process of determining the value and thus the disposition of records, based upon their current:</a:t>
            </a:r>
          </a:p>
          <a:p>
            <a:pPr lvl="1">
              <a:lnSpc>
                <a:spcPct val="150000"/>
              </a:lnSpc>
            </a:pPr>
            <a:r>
              <a:rPr lang="en-US" dirty="0">
                <a:solidFill>
                  <a:srgbClr val="00B050"/>
                </a:solidFill>
              </a:rPr>
              <a:t>administrative, </a:t>
            </a:r>
          </a:p>
          <a:p>
            <a:pPr lvl="1">
              <a:lnSpc>
                <a:spcPct val="150000"/>
              </a:lnSpc>
            </a:pPr>
            <a:r>
              <a:rPr lang="en-US" dirty="0">
                <a:solidFill>
                  <a:srgbClr val="00B050"/>
                </a:solidFill>
              </a:rPr>
              <a:t>legal and fiscal use: </a:t>
            </a:r>
          </a:p>
          <a:p>
            <a:pPr lvl="1">
              <a:lnSpc>
                <a:spcPct val="150000"/>
              </a:lnSpc>
            </a:pPr>
            <a:r>
              <a:rPr lang="en-US" dirty="0">
                <a:solidFill>
                  <a:srgbClr val="00B050"/>
                </a:solidFill>
              </a:rPr>
              <a:t>their evidential and informational or research value;</a:t>
            </a:r>
          </a:p>
          <a:p>
            <a:pPr lvl="1">
              <a:lnSpc>
                <a:spcPct val="150000"/>
              </a:lnSpc>
            </a:pPr>
            <a:r>
              <a:rPr lang="en-US" dirty="0">
                <a:solidFill>
                  <a:srgbClr val="00B050"/>
                </a:solidFill>
              </a:rPr>
              <a:t>their arrangement and their relationship to other records.</a:t>
            </a:r>
          </a:p>
          <a:p>
            <a:pPr>
              <a:lnSpc>
                <a:spcPct val="150000"/>
              </a:lnSpc>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1025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B8D11-9C32-B3D1-8A48-C0E92688EE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E414C7-9619-89F6-24C3-0B02F5A3888C}"/>
              </a:ext>
            </a:extLst>
          </p:cNvPr>
          <p:cNvSpPr>
            <a:spLocks noGrp="1"/>
          </p:cNvSpPr>
          <p:nvPr>
            <p:ph idx="1"/>
          </p:nvPr>
        </p:nvSpPr>
        <p:spPr>
          <a:xfrm>
            <a:off x="1813932" y="200722"/>
            <a:ext cx="9196039" cy="6415668"/>
          </a:xfrm>
        </p:spPr>
        <p:txBody>
          <a:bodyPr>
            <a:normAutofit fontScale="77500" lnSpcReduction="20000"/>
          </a:bodyPr>
          <a:lstStyle/>
          <a:p>
            <a:pPr marL="0" indent="0" algn="ctr">
              <a:buNone/>
            </a:pPr>
            <a:r>
              <a:rPr lang="en-US" sz="4100" b="1" dirty="0"/>
              <a:t>What is Appraisal?				Con’t…</a:t>
            </a:r>
          </a:p>
          <a:p>
            <a:pPr>
              <a:lnSpc>
                <a:spcPct val="120000"/>
              </a:lnSpc>
            </a:pPr>
            <a:r>
              <a:rPr lang="en-US" sz="3600" dirty="0"/>
              <a:t>Appraisal is a new concept in the archival management process.</a:t>
            </a:r>
          </a:p>
          <a:p>
            <a:pPr>
              <a:lnSpc>
                <a:spcPct val="120000"/>
              </a:lnSpc>
            </a:pPr>
            <a:r>
              <a:rPr lang="en-US" sz="3600" dirty="0"/>
              <a:t>An appraisal is an act of determining the worth of records to their creator or user in terms of:</a:t>
            </a:r>
          </a:p>
          <a:p>
            <a:pPr>
              <a:lnSpc>
                <a:spcPct val="120000"/>
              </a:lnSpc>
            </a:pPr>
            <a:r>
              <a:rPr lang="en-US" sz="3600" dirty="0">
                <a:solidFill>
                  <a:srgbClr val="00B050"/>
                </a:solidFill>
              </a:rPr>
              <a:t>Use </a:t>
            </a:r>
          </a:p>
          <a:p>
            <a:pPr lvl="1">
              <a:lnSpc>
                <a:spcPct val="120000"/>
              </a:lnSpc>
            </a:pPr>
            <a:r>
              <a:rPr lang="en-US" sz="2500" dirty="0"/>
              <a:t>Primary or secondary </a:t>
            </a:r>
          </a:p>
          <a:p>
            <a:pPr>
              <a:lnSpc>
                <a:spcPct val="120000"/>
              </a:lnSpc>
            </a:pPr>
            <a:r>
              <a:rPr lang="en-US" sz="3600" dirty="0">
                <a:solidFill>
                  <a:srgbClr val="00B050"/>
                </a:solidFill>
              </a:rPr>
              <a:t>Content </a:t>
            </a:r>
          </a:p>
          <a:p>
            <a:pPr lvl="1">
              <a:lnSpc>
                <a:spcPct val="120000"/>
              </a:lnSpc>
            </a:pPr>
            <a:r>
              <a:rPr lang="en-US" sz="2500" dirty="0"/>
              <a:t>evidential or informational </a:t>
            </a:r>
          </a:p>
          <a:p>
            <a:pPr>
              <a:lnSpc>
                <a:spcPct val="120000"/>
              </a:lnSpc>
            </a:pPr>
            <a:r>
              <a:rPr lang="en-US" sz="3600" dirty="0">
                <a:solidFill>
                  <a:srgbClr val="00B050"/>
                </a:solidFill>
              </a:rPr>
              <a:t>Categories </a:t>
            </a:r>
          </a:p>
          <a:p>
            <a:pPr lvl="1">
              <a:lnSpc>
                <a:spcPct val="120000"/>
              </a:lnSpc>
            </a:pPr>
            <a:r>
              <a:rPr lang="en-US" sz="2500" dirty="0"/>
              <a:t>Administrative value </a:t>
            </a:r>
          </a:p>
          <a:p>
            <a:pPr lvl="1">
              <a:lnSpc>
                <a:spcPct val="120000"/>
              </a:lnSpc>
            </a:pPr>
            <a:r>
              <a:rPr lang="en-US" sz="2500" dirty="0"/>
              <a:t>Fiscal value </a:t>
            </a:r>
          </a:p>
          <a:p>
            <a:pPr lvl="1">
              <a:lnSpc>
                <a:spcPct val="120000"/>
              </a:lnSpc>
            </a:pPr>
            <a:r>
              <a:rPr lang="en-US" sz="2500" dirty="0"/>
              <a:t>Legal value </a:t>
            </a:r>
          </a:p>
          <a:p>
            <a:pPr lvl="1">
              <a:lnSpc>
                <a:spcPct val="120000"/>
              </a:lnSpc>
            </a:pPr>
            <a:r>
              <a:rPr lang="en-US" sz="2500" dirty="0"/>
              <a:t>Historical value/research</a:t>
            </a:r>
          </a:p>
          <a:p>
            <a:pPr marL="0" indent="0">
              <a:buNone/>
            </a:pPr>
            <a:endParaRPr lang="en-US" dirty="0"/>
          </a:p>
        </p:txBody>
      </p:sp>
    </p:spTree>
    <p:extLst>
      <p:ext uri="{BB962C8B-B14F-4D97-AF65-F5344CB8AC3E}">
        <p14:creationId xmlns:p14="http://schemas.microsoft.com/office/powerpoint/2010/main" val="73231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7CB61-3100-EEB3-7D54-38DE3F5DA5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444398-5802-5BB0-B4BB-3E2FC83464E0}"/>
              </a:ext>
            </a:extLst>
          </p:cNvPr>
          <p:cNvSpPr>
            <a:spLocks noGrp="1"/>
          </p:cNvSpPr>
          <p:nvPr>
            <p:ph idx="1"/>
          </p:nvPr>
        </p:nvSpPr>
        <p:spPr>
          <a:xfrm>
            <a:off x="1813932" y="200722"/>
            <a:ext cx="9196039" cy="6415668"/>
          </a:xfrm>
        </p:spPr>
        <p:txBody>
          <a:bodyPr>
            <a:normAutofit/>
          </a:bodyPr>
          <a:lstStyle/>
          <a:p>
            <a:pPr marL="0" indent="0" algn="ctr">
              <a:buNone/>
            </a:pPr>
            <a:r>
              <a:rPr lang="en-US" sz="4100" b="1" dirty="0"/>
              <a:t>What is Appraisal?				Con’t…</a:t>
            </a:r>
          </a:p>
          <a:p>
            <a:pPr>
              <a:lnSpc>
                <a:spcPct val="150000"/>
              </a:lnSpc>
            </a:pPr>
            <a:r>
              <a:rPr lang="en-US" dirty="0"/>
              <a:t>The process of determining which records are </a:t>
            </a:r>
            <a:r>
              <a:rPr lang="en-US" b="1" dirty="0"/>
              <a:t>kept</a:t>
            </a:r>
            <a:r>
              <a:rPr lang="en-US" dirty="0"/>
              <a:t>, and for  </a:t>
            </a:r>
            <a:r>
              <a:rPr lang="en-US" b="1" dirty="0"/>
              <a:t>how long</a:t>
            </a:r>
            <a:r>
              <a:rPr lang="en-US" dirty="0"/>
              <a:t>, which are </a:t>
            </a:r>
            <a:r>
              <a:rPr lang="en-US" b="1" dirty="0"/>
              <a:t>destroyed</a:t>
            </a:r>
            <a:r>
              <a:rPr lang="en-US" dirty="0"/>
              <a:t> based on an established methodology.</a:t>
            </a:r>
          </a:p>
          <a:p>
            <a:pPr>
              <a:lnSpc>
                <a:spcPct val="150000"/>
              </a:lnSpc>
            </a:pPr>
            <a:r>
              <a:rPr lang="en-US" u="sng" dirty="0"/>
              <a:t>In appraisal process many factors take into account:</a:t>
            </a:r>
          </a:p>
          <a:p>
            <a:pPr lvl="1">
              <a:lnSpc>
                <a:spcPct val="150000"/>
              </a:lnSpc>
            </a:pPr>
            <a:r>
              <a:rPr lang="en-US" dirty="0"/>
              <a:t>Needs of creating </a:t>
            </a:r>
            <a:r>
              <a:rPr lang="en-US" b="1" dirty="0"/>
              <a:t>organization</a:t>
            </a:r>
          </a:p>
          <a:p>
            <a:pPr lvl="1">
              <a:lnSpc>
                <a:spcPct val="150000"/>
              </a:lnSpc>
            </a:pPr>
            <a:r>
              <a:rPr lang="en-US" dirty="0"/>
              <a:t>Needs and expectations of the </a:t>
            </a:r>
            <a:r>
              <a:rPr lang="en-US" b="1" dirty="0"/>
              <a:t>community</a:t>
            </a:r>
          </a:p>
          <a:p>
            <a:pPr lvl="1">
              <a:lnSpc>
                <a:spcPct val="150000"/>
              </a:lnSpc>
            </a:pPr>
            <a:r>
              <a:rPr lang="en-US" dirty="0"/>
              <a:t>Needs and rules of </a:t>
            </a:r>
            <a:r>
              <a:rPr lang="en-US" b="1" dirty="0"/>
              <a:t>national archives</a:t>
            </a:r>
            <a:endParaRPr lang="en-US" sz="1600" b="1" dirty="0"/>
          </a:p>
        </p:txBody>
      </p:sp>
    </p:spTree>
    <p:extLst>
      <p:ext uri="{BB962C8B-B14F-4D97-AF65-F5344CB8AC3E}">
        <p14:creationId xmlns:p14="http://schemas.microsoft.com/office/powerpoint/2010/main" val="255491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8B3B8-0CC2-D76D-79D3-5354C95AAD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547822-94A6-1141-20F5-81DD7C6AE9C8}"/>
              </a:ext>
            </a:extLst>
          </p:cNvPr>
          <p:cNvSpPr>
            <a:spLocks noGrp="1"/>
          </p:cNvSpPr>
          <p:nvPr>
            <p:ph idx="1"/>
          </p:nvPr>
        </p:nvSpPr>
        <p:spPr>
          <a:xfrm>
            <a:off x="1813932" y="200722"/>
            <a:ext cx="9196039" cy="6415668"/>
          </a:xfrm>
        </p:spPr>
        <p:txBody>
          <a:bodyPr>
            <a:normAutofit/>
          </a:bodyPr>
          <a:lstStyle/>
          <a:p>
            <a:pPr marL="0" indent="0" algn="ctr">
              <a:buNone/>
            </a:pPr>
            <a:r>
              <a:rPr lang="en-US" sz="4100" b="1" dirty="0"/>
              <a:t>What is Appraisal?				Con’t…</a:t>
            </a:r>
          </a:p>
          <a:p>
            <a:pPr marL="0" indent="0">
              <a:lnSpc>
                <a:spcPct val="150000"/>
              </a:lnSpc>
              <a:buNone/>
            </a:pPr>
            <a:r>
              <a:rPr lang="en-US" sz="3200" b="1" dirty="0">
                <a:solidFill>
                  <a:srgbClr val="00B050"/>
                </a:solidFill>
              </a:rPr>
              <a:t>The Purpose of Appraisal</a:t>
            </a:r>
          </a:p>
          <a:p>
            <a:pPr>
              <a:lnSpc>
                <a:spcPct val="150000"/>
              </a:lnSpc>
            </a:pPr>
            <a:r>
              <a:rPr lang="en-US" dirty="0"/>
              <a:t>Appraisal, which is sometimes called ‘</a:t>
            </a:r>
            <a:r>
              <a:rPr lang="en-US" dirty="0">
                <a:solidFill>
                  <a:srgbClr val="FF0000"/>
                </a:solidFill>
              </a:rPr>
              <a:t>evaluation</a:t>
            </a:r>
            <a:r>
              <a:rPr lang="en-US" dirty="0"/>
              <a:t>’ or ‘</a:t>
            </a:r>
            <a:r>
              <a:rPr lang="en-US" dirty="0">
                <a:solidFill>
                  <a:srgbClr val="FF0000"/>
                </a:solidFill>
              </a:rPr>
              <a:t>selection</a:t>
            </a:r>
            <a:r>
              <a:rPr lang="en-US" dirty="0"/>
              <a:t>’, has two purposes; these are:</a:t>
            </a:r>
          </a:p>
          <a:p>
            <a:pPr lvl="1">
              <a:lnSpc>
                <a:spcPct val="150000"/>
              </a:lnSpc>
            </a:pPr>
            <a:r>
              <a:rPr lang="en-US" sz="2800" b="1" dirty="0"/>
              <a:t>Continuing utility</a:t>
            </a:r>
            <a:r>
              <a:rPr lang="en-US" sz="2800" dirty="0"/>
              <a:t>:</a:t>
            </a:r>
          </a:p>
          <a:p>
            <a:pPr lvl="2">
              <a:lnSpc>
                <a:spcPct val="150000"/>
              </a:lnSpc>
            </a:pPr>
            <a:r>
              <a:rPr lang="en-US" sz="1600" dirty="0"/>
              <a:t>The finite usefulness that records may have for the continuance of business or as evidence thereof.</a:t>
            </a:r>
            <a:endParaRPr lang="en-US" sz="2400" dirty="0"/>
          </a:p>
          <a:p>
            <a:pPr lvl="1">
              <a:lnSpc>
                <a:spcPct val="150000"/>
              </a:lnSpc>
            </a:pPr>
            <a:r>
              <a:rPr lang="en-US" sz="2800" b="1" dirty="0"/>
              <a:t>Enduring value</a:t>
            </a:r>
            <a:r>
              <a:rPr lang="en-US" sz="2800" dirty="0"/>
              <a:t>: </a:t>
            </a:r>
          </a:p>
          <a:p>
            <a:pPr lvl="2">
              <a:lnSpc>
                <a:spcPct val="150000"/>
              </a:lnSpc>
            </a:pPr>
            <a:r>
              <a:rPr lang="en-US" dirty="0"/>
              <a:t>The indefinite value that records may have for any purpose and that justifies their preservation as archives.</a:t>
            </a:r>
            <a:endParaRPr lang="en-US" sz="2800" b="1" dirty="0">
              <a:solidFill>
                <a:srgbClr val="00B050"/>
              </a:solidFill>
            </a:endParaRPr>
          </a:p>
          <a:p>
            <a:pPr marL="0" indent="0">
              <a:lnSpc>
                <a:spcPct val="150000"/>
              </a:lnSpc>
              <a:buNone/>
            </a:pPr>
            <a:endParaRPr lang="en-US" sz="1600" b="1" dirty="0">
              <a:solidFill>
                <a:srgbClr val="00B050"/>
              </a:solidFill>
            </a:endParaRPr>
          </a:p>
        </p:txBody>
      </p:sp>
    </p:spTree>
    <p:extLst>
      <p:ext uri="{BB962C8B-B14F-4D97-AF65-F5344CB8AC3E}">
        <p14:creationId xmlns:p14="http://schemas.microsoft.com/office/powerpoint/2010/main" val="3331037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CCCEF-B850-F2F3-0C6A-35BE6C24B0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2A8F6A-8C57-AD2B-3769-D4A8C9D04F1B}"/>
              </a:ext>
            </a:extLst>
          </p:cNvPr>
          <p:cNvSpPr>
            <a:spLocks noGrp="1"/>
          </p:cNvSpPr>
          <p:nvPr>
            <p:ph idx="1"/>
          </p:nvPr>
        </p:nvSpPr>
        <p:spPr>
          <a:xfrm>
            <a:off x="1813932" y="200722"/>
            <a:ext cx="9196039" cy="6415668"/>
          </a:xfrm>
        </p:spPr>
        <p:txBody>
          <a:bodyPr>
            <a:normAutofit fontScale="92500" lnSpcReduction="10000"/>
          </a:bodyPr>
          <a:lstStyle/>
          <a:p>
            <a:pPr marL="0" indent="0" algn="ctr">
              <a:buNone/>
            </a:pPr>
            <a:r>
              <a:rPr lang="en-US" sz="4100" b="1" dirty="0"/>
              <a:t>What is Appraisal?				Con’t…</a:t>
            </a:r>
          </a:p>
          <a:p>
            <a:pPr>
              <a:lnSpc>
                <a:spcPct val="160000"/>
              </a:lnSpc>
            </a:pPr>
            <a:r>
              <a:rPr lang="en-US" sz="3000" dirty="0"/>
              <a:t>One of the </a:t>
            </a:r>
            <a:r>
              <a:rPr lang="en-US" sz="3000" b="1" dirty="0"/>
              <a:t>functions</a:t>
            </a:r>
            <a:r>
              <a:rPr lang="en-US" sz="3000" dirty="0"/>
              <a:t> of appraisal is to determine the </a:t>
            </a:r>
            <a:r>
              <a:rPr lang="en-US" sz="3000" u="sng" dirty="0"/>
              <a:t>life expectancy </a:t>
            </a:r>
            <a:r>
              <a:rPr lang="en-US" sz="3000" dirty="0"/>
              <a:t>of records by assigning retention periods. </a:t>
            </a:r>
          </a:p>
          <a:p>
            <a:pPr>
              <a:lnSpc>
                <a:spcPct val="160000"/>
              </a:lnSpc>
            </a:pPr>
            <a:r>
              <a:rPr lang="en-US" sz="3000" dirty="0"/>
              <a:t>Retention periods must be assigned to all records in an agency, not just those with possible archival value. </a:t>
            </a:r>
          </a:p>
          <a:p>
            <a:pPr>
              <a:lnSpc>
                <a:spcPct val="160000"/>
              </a:lnSpc>
            </a:pPr>
            <a:r>
              <a:rPr lang="en-US" sz="3000" b="1" dirty="0"/>
              <a:t>Retention </a:t>
            </a:r>
            <a:r>
              <a:rPr lang="en-US" sz="3000" dirty="0"/>
              <a:t>is function of preserving and maintaining records for continuing use. </a:t>
            </a:r>
          </a:p>
          <a:p>
            <a:pPr>
              <a:lnSpc>
                <a:spcPct val="160000"/>
              </a:lnSpc>
            </a:pPr>
            <a:r>
              <a:rPr lang="en-US" sz="3000" dirty="0"/>
              <a:t>This may be done in the agency of </a:t>
            </a:r>
            <a:r>
              <a:rPr lang="en-US" sz="3000" b="1" dirty="0"/>
              <a:t>origin</a:t>
            </a:r>
            <a:r>
              <a:rPr lang="en-US" sz="3000" dirty="0"/>
              <a:t>, in a </a:t>
            </a:r>
            <a:r>
              <a:rPr lang="en-US" sz="3000" b="1" dirty="0"/>
              <a:t>records center </a:t>
            </a:r>
            <a:r>
              <a:rPr lang="en-US" sz="3000" dirty="0"/>
              <a:t>or in </a:t>
            </a:r>
            <a:r>
              <a:rPr lang="en-US" sz="3000" b="1" dirty="0"/>
              <a:t>an archival institution</a:t>
            </a:r>
            <a:r>
              <a:rPr lang="en-US" sz="3000" dirty="0"/>
              <a:t>.</a:t>
            </a:r>
            <a:endParaRPr lang="en-US" sz="2200" dirty="0">
              <a:solidFill>
                <a:srgbClr val="00B050"/>
              </a:solidFill>
            </a:endParaRPr>
          </a:p>
        </p:txBody>
      </p:sp>
    </p:spTree>
    <p:extLst>
      <p:ext uri="{BB962C8B-B14F-4D97-AF65-F5344CB8AC3E}">
        <p14:creationId xmlns:p14="http://schemas.microsoft.com/office/powerpoint/2010/main" val="32482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C796-E25B-8346-5A67-6A70244B376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20F970-600B-AE1B-F870-01FD7391F11B}"/>
              </a:ext>
            </a:extLst>
          </p:cNvPr>
          <p:cNvSpPr>
            <a:spLocks noGrp="1"/>
          </p:cNvSpPr>
          <p:nvPr>
            <p:ph idx="1"/>
          </p:nvPr>
        </p:nvSpPr>
        <p:spPr>
          <a:xfrm>
            <a:off x="1813932" y="200722"/>
            <a:ext cx="9196039" cy="6415668"/>
          </a:xfrm>
        </p:spPr>
        <p:txBody>
          <a:bodyPr>
            <a:normAutofit/>
          </a:bodyPr>
          <a:lstStyle/>
          <a:p>
            <a:pPr marL="0" indent="0" algn="ctr">
              <a:buNone/>
            </a:pPr>
            <a:r>
              <a:rPr lang="en-US" sz="4100" b="1" dirty="0"/>
              <a:t>What is Appraisal?				Con’t…</a:t>
            </a:r>
          </a:p>
          <a:p>
            <a:pPr>
              <a:lnSpc>
                <a:spcPct val="160000"/>
              </a:lnSpc>
            </a:pPr>
            <a:r>
              <a:rPr lang="en-US" b="1" dirty="0"/>
              <a:t>Retention period </a:t>
            </a:r>
            <a:r>
              <a:rPr lang="en-US" dirty="0"/>
              <a:t>is length of time, as provided for by legislation, regulation or administrative procedure or based upon an estimate of the frequency of continuing use, that records should be retained in an office or records center before they are transferred to an archival institution or otherwise disposed of. </a:t>
            </a:r>
          </a:p>
          <a:p>
            <a:pPr>
              <a:lnSpc>
                <a:spcPct val="160000"/>
              </a:lnSpc>
            </a:pPr>
            <a:r>
              <a:rPr lang="en-US" b="1" dirty="0"/>
              <a:t>Disposal</a:t>
            </a:r>
            <a:r>
              <a:rPr lang="en-US" dirty="0"/>
              <a:t> is the action taken as a consequence of appraisal decisions.</a:t>
            </a:r>
            <a:endParaRPr lang="en-US" dirty="0">
              <a:solidFill>
                <a:srgbClr val="00B050"/>
              </a:solidFill>
            </a:endParaRPr>
          </a:p>
        </p:txBody>
      </p:sp>
    </p:spTree>
    <p:extLst>
      <p:ext uri="{BB962C8B-B14F-4D97-AF65-F5344CB8AC3E}">
        <p14:creationId xmlns:p14="http://schemas.microsoft.com/office/powerpoint/2010/main" val="2162806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9725-7666-48F5-059D-1B6F4A8712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CF9330-EC73-5F2F-9C14-269D869D9CA7}"/>
              </a:ext>
            </a:extLst>
          </p:cNvPr>
          <p:cNvSpPr>
            <a:spLocks noGrp="1"/>
          </p:cNvSpPr>
          <p:nvPr>
            <p:ph idx="1"/>
          </p:nvPr>
        </p:nvSpPr>
        <p:spPr>
          <a:xfrm>
            <a:off x="1813932" y="200722"/>
            <a:ext cx="9196039" cy="6415668"/>
          </a:xfrm>
        </p:spPr>
        <p:txBody>
          <a:bodyPr>
            <a:normAutofit fontScale="92500"/>
          </a:bodyPr>
          <a:lstStyle/>
          <a:p>
            <a:pPr marL="0" indent="0" algn="ctr">
              <a:buNone/>
            </a:pPr>
            <a:r>
              <a:rPr lang="en-US" sz="4100" b="1" dirty="0"/>
              <a:t>What is Appraisal?				Con’t…</a:t>
            </a:r>
          </a:p>
          <a:p>
            <a:pPr>
              <a:lnSpc>
                <a:spcPct val="160000"/>
              </a:lnSpc>
            </a:pPr>
            <a:r>
              <a:rPr lang="en-US" b="1" dirty="0"/>
              <a:t>Disposal </a:t>
            </a:r>
            <a:r>
              <a:rPr lang="en-US" dirty="0"/>
              <a:t>can only take place when records have reached the non current stage of their life cycle. </a:t>
            </a:r>
          </a:p>
          <a:p>
            <a:pPr>
              <a:lnSpc>
                <a:spcPct val="160000"/>
              </a:lnSpc>
            </a:pPr>
            <a:r>
              <a:rPr lang="en-US" dirty="0"/>
              <a:t>The product of the appraisal function is the </a:t>
            </a:r>
            <a:r>
              <a:rPr lang="en-US" dirty="0">
                <a:solidFill>
                  <a:srgbClr val="FF0000"/>
                </a:solidFill>
              </a:rPr>
              <a:t>disposal schedule</a:t>
            </a:r>
            <a:r>
              <a:rPr lang="en-US" dirty="0"/>
              <a:t>. </a:t>
            </a:r>
          </a:p>
          <a:p>
            <a:pPr>
              <a:lnSpc>
                <a:spcPct val="160000"/>
              </a:lnSpc>
            </a:pPr>
            <a:r>
              <a:rPr lang="en-US" b="1" dirty="0"/>
              <a:t>Disposal schedule</a:t>
            </a:r>
            <a:r>
              <a:rPr lang="en-US" dirty="0"/>
              <a:t>: The control document recording appraisal decisions and prescribing disposal action. </a:t>
            </a:r>
          </a:p>
          <a:p>
            <a:pPr>
              <a:lnSpc>
                <a:spcPct val="160000"/>
              </a:lnSpc>
            </a:pPr>
            <a:r>
              <a:rPr lang="en-US" dirty="0"/>
              <a:t>Also known as </a:t>
            </a:r>
            <a:r>
              <a:rPr lang="en-US" b="1" dirty="0"/>
              <a:t>disposal list</a:t>
            </a:r>
            <a:r>
              <a:rPr lang="en-US" dirty="0"/>
              <a:t>, </a:t>
            </a:r>
            <a:r>
              <a:rPr lang="en-US" b="1" dirty="0"/>
              <a:t>disposition schedule</a:t>
            </a:r>
            <a:r>
              <a:rPr lang="en-US" dirty="0"/>
              <a:t>, </a:t>
            </a:r>
            <a:r>
              <a:rPr lang="en-US" b="1" dirty="0"/>
              <a:t>records schedule</a:t>
            </a:r>
            <a:r>
              <a:rPr lang="en-US" dirty="0"/>
              <a:t>, </a:t>
            </a:r>
            <a:r>
              <a:rPr lang="en-US" b="1" dirty="0"/>
              <a:t>retention schedule</a:t>
            </a:r>
            <a:r>
              <a:rPr lang="en-US" dirty="0"/>
              <a:t>, </a:t>
            </a:r>
            <a:r>
              <a:rPr lang="en-US" b="1" dirty="0"/>
              <a:t>retention and disposal </a:t>
            </a:r>
            <a:r>
              <a:rPr lang="en-US" dirty="0"/>
              <a:t>(or disposition) </a:t>
            </a:r>
            <a:r>
              <a:rPr lang="en-US" b="1" dirty="0"/>
              <a:t>schedule</a:t>
            </a:r>
            <a:r>
              <a:rPr lang="en-US" dirty="0"/>
              <a:t> or </a:t>
            </a:r>
            <a:r>
              <a:rPr lang="en-US" b="1" dirty="0"/>
              <a:t>transfer schedule.</a:t>
            </a:r>
            <a:endParaRPr lang="en-US" b="1" dirty="0">
              <a:solidFill>
                <a:srgbClr val="00B050"/>
              </a:solidFill>
            </a:endParaRPr>
          </a:p>
        </p:txBody>
      </p:sp>
    </p:spTree>
    <p:extLst>
      <p:ext uri="{BB962C8B-B14F-4D97-AF65-F5344CB8AC3E}">
        <p14:creationId xmlns:p14="http://schemas.microsoft.com/office/powerpoint/2010/main" val="2569294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F898-EE05-55A8-E8A9-7593462477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D6F17-D47F-CE73-8EFF-6F65EEC7592C}"/>
              </a:ext>
            </a:extLst>
          </p:cNvPr>
          <p:cNvSpPr>
            <a:spLocks noGrp="1"/>
          </p:cNvSpPr>
          <p:nvPr>
            <p:ph idx="1"/>
          </p:nvPr>
        </p:nvSpPr>
        <p:spPr>
          <a:xfrm>
            <a:off x="1813932" y="200722"/>
            <a:ext cx="9196039" cy="6415668"/>
          </a:xfrm>
        </p:spPr>
        <p:txBody>
          <a:bodyPr>
            <a:normAutofit lnSpcReduction="10000"/>
          </a:bodyPr>
          <a:lstStyle/>
          <a:p>
            <a:pPr marL="0" indent="0" algn="ctr">
              <a:buNone/>
            </a:pPr>
            <a:r>
              <a:rPr lang="en-US" sz="4100" b="1" dirty="0"/>
              <a:t>Appraisal in Practice</a:t>
            </a:r>
          </a:p>
          <a:p>
            <a:pPr>
              <a:lnSpc>
                <a:spcPct val="160000"/>
              </a:lnSpc>
            </a:pPr>
            <a:r>
              <a:rPr lang="en-US" dirty="0"/>
              <a:t>When records appraisal is better organized, it is often managed as </a:t>
            </a:r>
            <a:r>
              <a:rPr lang="en-US" b="1" dirty="0"/>
              <a:t>two distinct operations</a:t>
            </a:r>
            <a:r>
              <a:rPr lang="en-US" dirty="0"/>
              <a:t>.</a:t>
            </a:r>
          </a:p>
          <a:p>
            <a:pPr>
              <a:lnSpc>
                <a:spcPct val="160000"/>
              </a:lnSpc>
            </a:pPr>
            <a:r>
              <a:rPr lang="en-US" b="1" dirty="0"/>
              <a:t>First</a:t>
            </a:r>
            <a:r>
              <a:rPr lang="en-US" dirty="0"/>
              <a:t>, </a:t>
            </a:r>
            <a:r>
              <a:rPr lang="en-US" dirty="0">
                <a:solidFill>
                  <a:srgbClr val="FF0000"/>
                </a:solidFill>
              </a:rPr>
              <a:t>current records </a:t>
            </a:r>
            <a:r>
              <a:rPr lang="en-US" dirty="0"/>
              <a:t>are appraised in order to destroy those records that do not merit continued retention and to transfer to a records center those </a:t>
            </a:r>
            <a:r>
              <a:rPr lang="en-US" dirty="0">
                <a:solidFill>
                  <a:srgbClr val="FF0000"/>
                </a:solidFill>
              </a:rPr>
              <a:t>semi-current records </a:t>
            </a:r>
            <a:r>
              <a:rPr lang="en-US" dirty="0"/>
              <a:t>that still need to be retained. </a:t>
            </a:r>
          </a:p>
          <a:p>
            <a:pPr>
              <a:lnSpc>
                <a:spcPct val="160000"/>
              </a:lnSpc>
            </a:pPr>
            <a:r>
              <a:rPr lang="en-US" b="1" dirty="0"/>
              <a:t>Second</a:t>
            </a:r>
            <a:r>
              <a:rPr lang="en-US" dirty="0"/>
              <a:t>, </a:t>
            </a:r>
            <a:r>
              <a:rPr lang="en-US" dirty="0">
                <a:solidFill>
                  <a:srgbClr val="FF0000"/>
                </a:solidFill>
              </a:rPr>
              <a:t>non-current records </a:t>
            </a:r>
            <a:r>
              <a:rPr lang="en-US" dirty="0"/>
              <a:t>are appraised as part of the archival process, to identify records of enduring value.</a:t>
            </a:r>
          </a:p>
        </p:txBody>
      </p:sp>
    </p:spTree>
    <p:extLst>
      <p:ext uri="{BB962C8B-B14F-4D97-AF65-F5344CB8AC3E}">
        <p14:creationId xmlns:p14="http://schemas.microsoft.com/office/powerpoint/2010/main" val="3880994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AD87F-0CB3-A2D3-61D4-F5902C163B4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01DA0-91DB-52E3-1145-CD92FF57ABB2}"/>
              </a:ext>
            </a:extLst>
          </p:cNvPr>
          <p:cNvSpPr>
            <a:spLocks noGrp="1"/>
          </p:cNvSpPr>
          <p:nvPr>
            <p:ph idx="1"/>
          </p:nvPr>
        </p:nvSpPr>
        <p:spPr>
          <a:xfrm>
            <a:off x="1813932" y="200722"/>
            <a:ext cx="9196039" cy="6415668"/>
          </a:xfrm>
        </p:spPr>
        <p:txBody>
          <a:bodyPr>
            <a:normAutofit fontScale="92500" lnSpcReduction="10000"/>
          </a:bodyPr>
          <a:lstStyle/>
          <a:p>
            <a:pPr marL="0" indent="0" algn="ctr">
              <a:buNone/>
            </a:pPr>
            <a:r>
              <a:rPr lang="en-US" sz="4100" b="1" dirty="0"/>
              <a:t>Appraisal Strategy </a:t>
            </a:r>
          </a:p>
          <a:p>
            <a:pPr>
              <a:lnSpc>
                <a:spcPct val="160000"/>
              </a:lnSpc>
            </a:pPr>
            <a:r>
              <a:rPr lang="en-US" dirty="0"/>
              <a:t>Ideally, </a:t>
            </a:r>
            <a:r>
              <a:rPr lang="en-US" b="1" dirty="0"/>
              <a:t>appraisal </a:t>
            </a:r>
            <a:r>
              <a:rPr lang="en-US" dirty="0"/>
              <a:t>and </a:t>
            </a:r>
            <a:r>
              <a:rPr lang="en-US" b="1" dirty="0"/>
              <a:t>disposal </a:t>
            </a:r>
            <a:r>
              <a:rPr lang="en-US" dirty="0"/>
              <a:t>should be a continuing and systematic process undertaken in the context of an agreed strategy.</a:t>
            </a:r>
          </a:p>
          <a:p>
            <a:pPr>
              <a:lnSpc>
                <a:spcPct val="160000"/>
              </a:lnSpc>
            </a:pPr>
            <a:r>
              <a:rPr lang="en-US" dirty="0"/>
              <a:t>This strategy should be </a:t>
            </a:r>
            <a:r>
              <a:rPr lang="en-US" b="1" dirty="0"/>
              <a:t>government</a:t>
            </a:r>
            <a:r>
              <a:rPr lang="en-US" dirty="0"/>
              <a:t> or </a:t>
            </a:r>
            <a:r>
              <a:rPr lang="en-US" b="1" dirty="0"/>
              <a:t>organization-wide </a:t>
            </a:r>
            <a:r>
              <a:rPr lang="en-US" dirty="0"/>
              <a:t>with respect to administrative records common to all agencies and agency-wide.</a:t>
            </a:r>
          </a:p>
          <a:p>
            <a:pPr>
              <a:lnSpc>
                <a:spcPct val="160000"/>
              </a:lnSpc>
            </a:pPr>
            <a:r>
              <a:rPr lang="en-US" dirty="0"/>
              <a:t>The </a:t>
            </a:r>
            <a:r>
              <a:rPr lang="en-US" b="1" dirty="0"/>
              <a:t>appraisal</a:t>
            </a:r>
            <a:r>
              <a:rPr lang="en-US" dirty="0"/>
              <a:t> and </a:t>
            </a:r>
            <a:r>
              <a:rPr lang="en-US" b="1" dirty="0"/>
              <a:t>disposal strategy </a:t>
            </a:r>
            <a:r>
              <a:rPr lang="en-US" dirty="0"/>
              <a:t>should be at the </a:t>
            </a:r>
            <a:r>
              <a:rPr lang="en-US" dirty="0">
                <a:solidFill>
                  <a:srgbClr val="FF0000"/>
                </a:solidFill>
              </a:rPr>
              <a:t>macro-level </a:t>
            </a:r>
            <a:r>
              <a:rPr lang="en-US" dirty="0"/>
              <a:t>(that is, at the series level) not the </a:t>
            </a:r>
            <a:r>
              <a:rPr lang="en-US" dirty="0">
                <a:solidFill>
                  <a:srgbClr val="FF0000"/>
                </a:solidFill>
              </a:rPr>
              <a:t>micro-level</a:t>
            </a:r>
            <a:r>
              <a:rPr lang="en-US" dirty="0"/>
              <a:t> (the file or document level.</a:t>
            </a:r>
          </a:p>
        </p:txBody>
      </p:sp>
    </p:spTree>
    <p:extLst>
      <p:ext uri="{BB962C8B-B14F-4D97-AF65-F5344CB8AC3E}">
        <p14:creationId xmlns:p14="http://schemas.microsoft.com/office/powerpoint/2010/main" val="821080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660DE-67D0-85CA-80BD-6636DF948F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3F3A2-0D9A-91B2-7F1A-885ED4281A50}"/>
              </a:ext>
            </a:extLst>
          </p:cNvPr>
          <p:cNvSpPr>
            <a:spLocks noGrp="1"/>
          </p:cNvSpPr>
          <p:nvPr>
            <p:ph idx="1"/>
          </p:nvPr>
        </p:nvSpPr>
        <p:spPr>
          <a:xfrm>
            <a:off x="1813932" y="200722"/>
            <a:ext cx="9196039" cy="6415668"/>
          </a:xfrm>
        </p:spPr>
        <p:txBody>
          <a:bodyPr>
            <a:normAutofit/>
          </a:bodyPr>
          <a:lstStyle/>
          <a:p>
            <a:pPr marL="0" indent="0" algn="ctr">
              <a:buNone/>
            </a:pPr>
            <a:r>
              <a:rPr lang="en-US" sz="4100" b="1" dirty="0"/>
              <a:t>Appraisal Strategy </a:t>
            </a:r>
          </a:p>
          <a:p>
            <a:pPr>
              <a:lnSpc>
                <a:spcPct val="160000"/>
              </a:lnSpc>
            </a:pPr>
            <a:r>
              <a:rPr lang="en-US" dirty="0"/>
              <a:t>There are different types of appraisal strategies  </a:t>
            </a:r>
          </a:p>
          <a:p>
            <a:pPr marL="514350" indent="-514350">
              <a:lnSpc>
                <a:spcPct val="160000"/>
              </a:lnSpc>
              <a:buFont typeface="+mj-lt"/>
              <a:buAutoNum type="arabicPeriod"/>
            </a:pPr>
            <a:r>
              <a:rPr lang="en-US" b="1" dirty="0"/>
              <a:t>Appraising the functions and activities </a:t>
            </a:r>
          </a:p>
          <a:p>
            <a:pPr lvl="1">
              <a:lnSpc>
                <a:spcPct val="160000"/>
              </a:lnSpc>
            </a:pPr>
            <a:r>
              <a:rPr lang="en-US" dirty="0"/>
              <a:t>produce disposal schedules</a:t>
            </a:r>
          </a:p>
          <a:p>
            <a:pPr marL="514350" indent="-514350">
              <a:lnSpc>
                <a:spcPct val="160000"/>
              </a:lnSpc>
              <a:buFont typeface="+mj-lt"/>
              <a:buAutoNum type="arabicPeriod" startAt="2"/>
            </a:pPr>
            <a:r>
              <a:rPr lang="en-US" b="1" dirty="0"/>
              <a:t>‘one-off’ appraisal </a:t>
            </a:r>
          </a:p>
          <a:p>
            <a:pPr lvl="1">
              <a:lnSpc>
                <a:spcPct val="160000"/>
              </a:lnSpc>
            </a:pPr>
            <a:r>
              <a:rPr lang="en-US" dirty="0"/>
              <a:t>used for a specific set of records </a:t>
            </a:r>
          </a:p>
          <a:p>
            <a:pPr lvl="1">
              <a:lnSpc>
                <a:spcPct val="160000"/>
              </a:lnSpc>
            </a:pPr>
            <a:r>
              <a:rPr lang="en-US" dirty="0"/>
              <a:t>produce an appraisal report and list</a:t>
            </a:r>
          </a:p>
        </p:txBody>
      </p:sp>
    </p:spTree>
    <p:extLst>
      <p:ext uri="{BB962C8B-B14F-4D97-AF65-F5344CB8AC3E}">
        <p14:creationId xmlns:p14="http://schemas.microsoft.com/office/powerpoint/2010/main" val="1718725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F4B32-7B44-379B-4D4A-846B025D0C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28D6F5-8CAD-A604-F109-EE6A3EAFA4C0}"/>
              </a:ext>
            </a:extLst>
          </p:cNvPr>
          <p:cNvSpPr>
            <a:spLocks noGrp="1"/>
          </p:cNvSpPr>
          <p:nvPr>
            <p:ph idx="1"/>
          </p:nvPr>
        </p:nvSpPr>
        <p:spPr>
          <a:xfrm>
            <a:off x="1813932" y="200722"/>
            <a:ext cx="9196039" cy="6415668"/>
          </a:xfrm>
        </p:spPr>
        <p:txBody>
          <a:bodyPr>
            <a:normAutofit lnSpcReduction="10000"/>
          </a:bodyPr>
          <a:lstStyle/>
          <a:p>
            <a:pPr marL="0" indent="0" algn="ctr">
              <a:buNone/>
            </a:pPr>
            <a:r>
              <a:rPr lang="en-US" sz="3200" b="1" u="sng" dirty="0"/>
              <a:t>One-off Appraisal Produces</a:t>
            </a:r>
          </a:p>
          <a:p>
            <a:pPr>
              <a:lnSpc>
                <a:spcPct val="150000"/>
              </a:lnSpc>
            </a:pPr>
            <a:r>
              <a:rPr lang="en-US" dirty="0"/>
              <a:t>An </a:t>
            </a:r>
            <a:r>
              <a:rPr lang="en-US" i="1" dirty="0">
                <a:solidFill>
                  <a:srgbClr val="FF0000"/>
                </a:solidFill>
              </a:rPr>
              <a:t>appraisal list</a:t>
            </a:r>
            <a:r>
              <a:rPr lang="en-US" dirty="0"/>
              <a:t>, that lists each record or each type of record and the disposal action to be applied to the record (archive or destroy).</a:t>
            </a:r>
          </a:p>
          <a:p>
            <a:pPr>
              <a:lnSpc>
                <a:spcPct val="150000"/>
              </a:lnSpc>
            </a:pPr>
            <a:r>
              <a:rPr lang="en-US" sz="2800" dirty="0"/>
              <a:t>An </a:t>
            </a:r>
            <a:r>
              <a:rPr lang="en-US" sz="2800" i="1" dirty="0">
                <a:solidFill>
                  <a:srgbClr val="FF0000"/>
                </a:solidFill>
              </a:rPr>
              <a:t>appraisal report </a:t>
            </a:r>
            <a:r>
              <a:rPr lang="en-US" sz="2800" dirty="0"/>
              <a:t>that sets out the reasons for the appraisal, describes the records, and documents, and provides justification for the disposal actions that have been recommended.</a:t>
            </a:r>
          </a:p>
          <a:p>
            <a:pPr>
              <a:lnSpc>
                <a:spcPct val="150000"/>
              </a:lnSpc>
            </a:pPr>
            <a:r>
              <a:rPr lang="en-US" dirty="0"/>
              <a:t>A </a:t>
            </a:r>
            <a:r>
              <a:rPr lang="en-US" i="1" dirty="0">
                <a:solidFill>
                  <a:srgbClr val="FF0000"/>
                </a:solidFill>
              </a:rPr>
              <a:t>final approval </a:t>
            </a:r>
            <a:r>
              <a:rPr lang="en-US" dirty="0"/>
              <a:t>of the appraisal by the National Archivist signifies that the disposal actions have been agreed upon.</a:t>
            </a:r>
            <a:endParaRPr lang="en-US" sz="4000" b="1" dirty="0"/>
          </a:p>
        </p:txBody>
      </p:sp>
    </p:spTree>
    <p:extLst>
      <p:ext uri="{BB962C8B-B14F-4D97-AF65-F5344CB8AC3E}">
        <p14:creationId xmlns:p14="http://schemas.microsoft.com/office/powerpoint/2010/main" val="3849903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DAA08-4604-DEB4-7920-D707A54E35D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C4DDA-BED9-2E18-1405-9BB5712D8C16}"/>
              </a:ext>
            </a:extLst>
          </p:cNvPr>
          <p:cNvSpPr>
            <a:spLocks noGrp="1"/>
          </p:cNvSpPr>
          <p:nvPr>
            <p:ph idx="1"/>
          </p:nvPr>
        </p:nvSpPr>
        <p:spPr>
          <a:xfrm>
            <a:off x="1813932" y="200722"/>
            <a:ext cx="9196039" cy="6415668"/>
          </a:xfrm>
        </p:spPr>
        <p:txBody>
          <a:bodyPr>
            <a:normAutofit/>
          </a:bodyPr>
          <a:lstStyle/>
          <a:p>
            <a:pPr marL="0" indent="0" algn="ctr">
              <a:buNone/>
            </a:pPr>
            <a:r>
              <a:rPr lang="en-US" sz="3200" b="1" u="sng" dirty="0"/>
              <a:t>One-off Appraisal Produces…Con’t</a:t>
            </a:r>
          </a:p>
          <a:p>
            <a:pPr>
              <a:lnSpc>
                <a:spcPct val="150000"/>
              </a:lnSpc>
            </a:pPr>
            <a:r>
              <a:rPr lang="en-US" dirty="0"/>
              <a:t>The ultimate result of an appraisal is the transfer to the National Archives or to archival storage of records of permanent value and the destruction of records of low or short-term value.</a:t>
            </a:r>
          </a:p>
          <a:p>
            <a:pPr marL="0" indent="0">
              <a:lnSpc>
                <a:spcPct val="150000"/>
              </a:lnSpc>
              <a:buNone/>
            </a:pPr>
            <a:endParaRPr lang="en-US" dirty="0"/>
          </a:p>
          <a:p>
            <a:pPr>
              <a:lnSpc>
                <a:spcPct val="150000"/>
              </a:lnSpc>
            </a:pPr>
            <a:endParaRPr lang="en-US" sz="4000" b="1" dirty="0"/>
          </a:p>
        </p:txBody>
      </p:sp>
      <p:pic>
        <p:nvPicPr>
          <p:cNvPr id="4" name="Picture 3">
            <a:extLst>
              <a:ext uri="{FF2B5EF4-FFF2-40B4-BE49-F238E27FC236}">
                <a16:creationId xmlns:a16="http://schemas.microsoft.com/office/drawing/2014/main" id="{3457A97B-7C57-1BBF-7DA9-73BF6BDE3C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346" y="3637155"/>
            <a:ext cx="6600213" cy="2607527"/>
          </a:xfrm>
          <a:prstGeom prst="rect">
            <a:avLst/>
          </a:prstGeom>
        </p:spPr>
      </p:pic>
    </p:spTree>
    <p:extLst>
      <p:ext uri="{BB962C8B-B14F-4D97-AF65-F5344CB8AC3E}">
        <p14:creationId xmlns:p14="http://schemas.microsoft.com/office/powerpoint/2010/main" val="2375162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FDD20-1AFD-1363-B5A7-8D60294EFD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5CC6E-E94F-5051-6FD4-61544FF1E0A1}"/>
              </a:ext>
            </a:extLst>
          </p:cNvPr>
          <p:cNvSpPr>
            <a:spLocks noGrp="1"/>
          </p:cNvSpPr>
          <p:nvPr>
            <p:ph idx="1"/>
          </p:nvPr>
        </p:nvSpPr>
        <p:spPr>
          <a:xfrm>
            <a:off x="1813932" y="564995"/>
            <a:ext cx="9196039" cy="5731728"/>
          </a:xfrm>
        </p:spPr>
        <p:txBody>
          <a:bodyPr>
            <a:normAutofit lnSpcReduction="10000"/>
          </a:bodyPr>
          <a:lstStyle/>
          <a:p>
            <a:pPr marL="0" indent="0" algn="ctr">
              <a:buNone/>
            </a:pPr>
            <a:r>
              <a:rPr lang="en-US" sz="3200" b="1" u="sng" dirty="0">
                <a:solidFill>
                  <a:srgbClr val="FF0000"/>
                </a:solidFill>
              </a:rPr>
              <a:t>Benefits of using a disposal schedule</a:t>
            </a:r>
          </a:p>
          <a:p>
            <a:pPr>
              <a:lnSpc>
                <a:spcPct val="150000"/>
              </a:lnSpc>
            </a:pPr>
            <a:r>
              <a:rPr lang="en-US" dirty="0">
                <a:latin typeface="Calibri "/>
              </a:rPr>
              <a:t>Save space</a:t>
            </a:r>
          </a:p>
          <a:p>
            <a:pPr>
              <a:lnSpc>
                <a:spcPct val="150000"/>
              </a:lnSpc>
            </a:pPr>
            <a:r>
              <a:rPr lang="en-US" dirty="0">
                <a:latin typeface="Calibri "/>
              </a:rPr>
              <a:t> Save money</a:t>
            </a:r>
          </a:p>
          <a:p>
            <a:pPr>
              <a:lnSpc>
                <a:spcPct val="150000"/>
              </a:lnSpc>
            </a:pPr>
            <a:r>
              <a:rPr lang="en-US" dirty="0">
                <a:latin typeface="Calibri "/>
              </a:rPr>
              <a:t> Save time (retrieval)</a:t>
            </a:r>
          </a:p>
          <a:p>
            <a:pPr>
              <a:lnSpc>
                <a:spcPct val="150000"/>
              </a:lnSpc>
            </a:pPr>
            <a:r>
              <a:rPr lang="en-US" dirty="0">
                <a:latin typeface="Calibri "/>
              </a:rPr>
              <a:t> Meet legal requirements</a:t>
            </a:r>
          </a:p>
          <a:p>
            <a:pPr>
              <a:lnSpc>
                <a:spcPct val="150000"/>
              </a:lnSpc>
            </a:pPr>
            <a:r>
              <a:rPr lang="en-US" dirty="0">
                <a:latin typeface="Calibri "/>
              </a:rPr>
              <a:t> Keep the right records </a:t>
            </a:r>
          </a:p>
          <a:p>
            <a:pPr>
              <a:lnSpc>
                <a:spcPct val="150000"/>
              </a:lnSpc>
            </a:pPr>
            <a:r>
              <a:rPr lang="en-US" dirty="0">
                <a:latin typeface="Calibri "/>
              </a:rPr>
              <a:t>Save records from accidental destruction</a:t>
            </a:r>
          </a:p>
          <a:p>
            <a:pPr>
              <a:lnSpc>
                <a:spcPct val="150000"/>
              </a:lnSpc>
            </a:pPr>
            <a:r>
              <a:rPr lang="en-US" dirty="0">
                <a:latin typeface="Calibri "/>
              </a:rPr>
              <a:t> Get rid of records you don’t need at the right time</a:t>
            </a:r>
            <a:endParaRPr lang="en-US" sz="4000" b="1" dirty="0"/>
          </a:p>
        </p:txBody>
      </p:sp>
    </p:spTree>
    <p:extLst>
      <p:ext uri="{BB962C8B-B14F-4D97-AF65-F5344CB8AC3E}">
        <p14:creationId xmlns:p14="http://schemas.microsoft.com/office/powerpoint/2010/main" val="1944794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ADA21-8894-35DE-2787-2830CE2C11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6DA204-8C77-2C52-A9F8-8AAA7DEBF612}"/>
              </a:ext>
            </a:extLst>
          </p:cNvPr>
          <p:cNvSpPr>
            <a:spLocks noGrp="1"/>
          </p:cNvSpPr>
          <p:nvPr>
            <p:ph idx="1"/>
          </p:nvPr>
        </p:nvSpPr>
        <p:spPr>
          <a:xfrm>
            <a:off x="1813932" y="564995"/>
            <a:ext cx="9196039" cy="5731728"/>
          </a:xfrm>
        </p:spPr>
        <p:txBody>
          <a:bodyPr>
            <a:normAutofit/>
          </a:bodyPr>
          <a:lstStyle/>
          <a:p>
            <a:pPr marL="0" indent="0" algn="ctr">
              <a:buNone/>
            </a:pPr>
            <a:r>
              <a:rPr lang="en-US" sz="3200" b="1" u="sng" dirty="0">
                <a:solidFill>
                  <a:srgbClr val="FF0000"/>
                </a:solidFill>
              </a:rPr>
              <a:t>The Process of Appraisal</a:t>
            </a:r>
            <a:endParaRPr lang="en-US" dirty="0">
              <a:latin typeface="Calibri "/>
            </a:endParaRPr>
          </a:p>
          <a:p>
            <a:pPr marL="0" indent="0">
              <a:lnSpc>
                <a:spcPct val="150000"/>
              </a:lnSpc>
              <a:buNone/>
            </a:pPr>
            <a:r>
              <a:rPr lang="en-US" sz="2800" b="1" dirty="0">
                <a:solidFill>
                  <a:srgbClr val="FF0000"/>
                </a:solidFill>
              </a:rPr>
              <a:t>Step 1</a:t>
            </a:r>
            <a:r>
              <a:rPr lang="en-US" sz="2800" dirty="0">
                <a:solidFill>
                  <a:srgbClr val="00B050"/>
                </a:solidFill>
              </a:rPr>
              <a:t>: Determine roles and responsibilities</a:t>
            </a:r>
          </a:p>
          <a:p>
            <a:pPr marL="514350" indent="-514350">
              <a:lnSpc>
                <a:spcPct val="150000"/>
              </a:lnSpc>
              <a:buFont typeface="+mj-lt"/>
              <a:buAutoNum type="arabicPeriod"/>
            </a:pPr>
            <a:r>
              <a:rPr lang="en-US" sz="2800" dirty="0"/>
              <a:t>Who performs the appraisal? </a:t>
            </a:r>
            <a:endParaRPr lang="en-US" dirty="0"/>
          </a:p>
          <a:p>
            <a:pPr marL="514350" indent="-514350">
              <a:lnSpc>
                <a:spcPct val="150000"/>
              </a:lnSpc>
              <a:buFont typeface="+mj-lt"/>
              <a:buAutoNum type="arabicPeriod"/>
            </a:pPr>
            <a:r>
              <a:rPr lang="en-US" sz="2800" dirty="0"/>
              <a:t>Who agrees to the appraisal list and report?</a:t>
            </a:r>
          </a:p>
          <a:p>
            <a:pPr lvl="1">
              <a:lnSpc>
                <a:spcPct val="150000"/>
              </a:lnSpc>
              <a:buFont typeface="Wingdings" panose="05000000000000000000" pitchFamily="2" charset="2"/>
              <a:buChar char="§"/>
            </a:pPr>
            <a:r>
              <a:rPr lang="en-US" dirty="0"/>
              <a:t>are there different levels required </a:t>
            </a:r>
          </a:p>
          <a:p>
            <a:pPr marL="514350" indent="-514350">
              <a:lnSpc>
                <a:spcPct val="150000"/>
              </a:lnSpc>
              <a:buFont typeface="+mj-lt"/>
              <a:buAutoNum type="arabicPeriod" startAt="3"/>
            </a:pPr>
            <a:r>
              <a:rPr lang="en-US" sz="2800" dirty="0"/>
              <a:t>Who gives final approval?</a:t>
            </a:r>
            <a:endParaRPr lang="en-US" sz="4000" b="1" dirty="0"/>
          </a:p>
        </p:txBody>
      </p:sp>
    </p:spTree>
    <p:extLst>
      <p:ext uri="{BB962C8B-B14F-4D97-AF65-F5344CB8AC3E}">
        <p14:creationId xmlns:p14="http://schemas.microsoft.com/office/powerpoint/2010/main" val="84035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84829-E244-8B7A-62F7-CE2C64B9AF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C91860-F52D-92CA-989C-9ACF2799D6AD}"/>
              </a:ext>
            </a:extLst>
          </p:cNvPr>
          <p:cNvSpPr>
            <a:spLocks noGrp="1"/>
          </p:cNvSpPr>
          <p:nvPr>
            <p:ph idx="1"/>
          </p:nvPr>
        </p:nvSpPr>
        <p:spPr>
          <a:xfrm>
            <a:off x="1813932" y="564995"/>
            <a:ext cx="9196039" cy="5731728"/>
          </a:xfrm>
        </p:spPr>
        <p:txBody>
          <a:bodyPr>
            <a:normAutofit fontScale="92500"/>
          </a:bodyPr>
          <a:lstStyle/>
          <a:p>
            <a:pPr marL="0" indent="0" algn="ctr">
              <a:buNone/>
            </a:pPr>
            <a:r>
              <a:rPr lang="en-US" sz="3200" b="1" u="sng" dirty="0">
                <a:solidFill>
                  <a:srgbClr val="FF0000"/>
                </a:solidFill>
              </a:rPr>
              <a:t>The Process of Appraisal…Con’t.</a:t>
            </a:r>
            <a:endParaRPr lang="en-US" sz="3200" dirty="0">
              <a:latin typeface="Calibri "/>
            </a:endParaRPr>
          </a:p>
          <a:p>
            <a:pPr marL="0" indent="0">
              <a:lnSpc>
                <a:spcPct val="150000"/>
              </a:lnSpc>
              <a:buNone/>
            </a:pPr>
            <a:r>
              <a:rPr lang="en-US" b="1" dirty="0">
                <a:solidFill>
                  <a:srgbClr val="FF0000"/>
                </a:solidFill>
              </a:rPr>
              <a:t>Step 2</a:t>
            </a:r>
            <a:r>
              <a:rPr lang="en-US" b="1" dirty="0">
                <a:solidFill>
                  <a:srgbClr val="00B050"/>
                </a:solidFill>
              </a:rPr>
              <a:t>: Research the organization and its functions/records</a:t>
            </a:r>
            <a:r>
              <a:rPr lang="en-US" sz="2800" b="1" dirty="0">
                <a:solidFill>
                  <a:srgbClr val="00B050"/>
                </a:solidFill>
              </a:rPr>
              <a:t> </a:t>
            </a:r>
          </a:p>
          <a:p>
            <a:pPr>
              <a:lnSpc>
                <a:spcPct val="150000"/>
              </a:lnSpc>
            </a:pPr>
            <a:r>
              <a:rPr lang="en-US" dirty="0"/>
              <a:t>Helps determine the value of records</a:t>
            </a:r>
          </a:p>
          <a:p>
            <a:pPr>
              <a:lnSpc>
                <a:spcPct val="150000"/>
              </a:lnSpc>
            </a:pPr>
            <a:r>
              <a:rPr lang="en-US" dirty="0"/>
              <a:t>What are some of the common sources of this good information?</a:t>
            </a:r>
          </a:p>
          <a:p>
            <a:pPr marL="0" indent="0">
              <a:lnSpc>
                <a:spcPct val="150000"/>
              </a:lnSpc>
              <a:buNone/>
            </a:pPr>
            <a:r>
              <a:rPr lang="en-US" b="1" dirty="0">
                <a:solidFill>
                  <a:srgbClr val="FF0000"/>
                </a:solidFill>
              </a:rPr>
              <a:t>Step 3</a:t>
            </a:r>
            <a:r>
              <a:rPr lang="en-US" b="1" dirty="0">
                <a:solidFill>
                  <a:srgbClr val="00B050"/>
                </a:solidFill>
              </a:rPr>
              <a:t>: Survey the records </a:t>
            </a:r>
          </a:p>
          <a:p>
            <a:pPr>
              <a:lnSpc>
                <a:spcPct val="150000"/>
              </a:lnSpc>
            </a:pPr>
            <a:r>
              <a:rPr lang="en-US" dirty="0"/>
              <a:t>Do the records have some control indexes?</a:t>
            </a:r>
          </a:p>
          <a:p>
            <a:pPr>
              <a:lnSpc>
                <a:spcPct val="150000"/>
              </a:lnSpc>
            </a:pPr>
            <a:r>
              <a:rPr lang="en-US" dirty="0"/>
              <a:t>Physical examination of records </a:t>
            </a:r>
          </a:p>
          <a:p>
            <a:pPr>
              <a:lnSpc>
                <a:spcPct val="150000"/>
              </a:lnSpc>
            </a:pPr>
            <a:r>
              <a:rPr lang="en-US" dirty="0"/>
              <a:t>Fill out the survey forms</a:t>
            </a:r>
            <a:r>
              <a:rPr lang="en-US" sz="2800" dirty="0">
                <a:solidFill>
                  <a:srgbClr val="00B050"/>
                </a:solidFill>
              </a:rPr>
              <a:t> </a:t>
            </a:r>
          </a:p>
          <a:p>
            <a:pPr>
              <a:lnSpc>
                <a:spcPct val="150000"/>
              </a:lnSpc>
            </a:pPr>
            <a:endParaRPr lang="en-US" dirty="0">
              <a:solidFill>
                <a:srgbClr val="00B050"/>
              </a:solidFill>
            </a:endParaRPr>
          </a:p>
        </p:txBody>
      </p:sp>
    </p:spTree>
    <p:extLst>
      <p:ext uri="{BB962C8B-B14F-4D97-AF65-F5344CB8AC3E}">
        <p14:creationId xmlns:p14="http://schemas.microsoft.com/office/powerpoint/2010/main" val="1195898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D3470-9C97-9DF7-C6EB-DC9C1EF812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21C425-CD2B-65F8-7072-435BC15ABF4C}"/>
              </a:ext>
            </a:extLst>
          </p:cNvPr>
          <p:cNvSpPr>
            <a:spLocks noGrp="1"/>
          </p:cNvSpPr>
          <p:nvPr>
            <p:ph idx="1"/>
          </p:nvPr>
        </p:nvSpPr>
        <p:spPr>
          <a:xfrm>
            <a:off x="1813932" y="564995"/>
            <a:ext cx="9196039" cy="5731728"/>
          </a:xfrm>
        </p:spPr>
        <p:txBody>
          <a:bodyPr>
            <a:normAutofit/>
          </a:bodyPr>
          <a:lstStyle/>
          <a:p>
            <a:pPr marL="0" indent="0" algn="ctr">
              <a:buNone/>
            </a:pPr>
            <a:r>
              <a:rPr lang="en-US" sz="3200" b="1" u="sng" dirty="0">
                <a:solidFill>
                  <a:srgbClr val="FF0000"/>
                </a:solidFill>
              </a:rPr>
              <a:t>The Process of Appraisal…Con’t.</a:t>
            </a:r>
            <a:endParaRPr lang="en-US" sz="3200" dirty="0">
              <a:latin typeface="Calibri "/>
            </a:endParaRPr>
          </a:p>
          <a:p>
            <a:pPr marL="0" indent="0">
              <a:lnSpc>
                <a:spcPct val="150000"/>
              </a:lnSpc>
              <a:buNone/>
            </a:pPr>
            <a:r>
              <a:rPr lang="en-US" b="1" dirty="0">
                <a:solidFill>
                  <a:srgbClr val="FF0000"/>
                </a:solidFill>
              </a:rPr>
              <a:t>Step 2</a:t>
            </a:r>
            <a:r>
              <a:rPr lang="en-US" b="1" dirty="0">
                <a:solidFill>
                  <a:srgbClr val="00B050"/>
                </a:solidFill>
              </a:rPr>
              <a:t>: Research the organization and its functions/records</a:t>
            </a:r>
          </a:p>
          <a:p>
            <a:pPr marL="0" indent="0">
              <a:lnSpc>
                <a:spcPct val="150000"/>
              </a:lnSpc>
              <a:buNone/>
            </a:pPr>
            <a:r>
              <a:rPr lang="en-US" b="1" dirty="0">
                <a:solidFill>
                  <a:srgbClr val="FF0000"/>
                </a:solidFill>
              </a:rPr>
              <a:t>Step 4</a:t>
            </a:r>
            <a:r>
              <a:rPr lang="en-US" b="1" dirty="0">
                <a:solidFill>
                  <a:srgbClr val="00B050"/>
                </a:solidFill>
              </a:rPr>
              <a:t>. Decide which records to appraise </a:t>
            </a:r>
          </a:p>
          <a:p>
            <a:pPr>
              <a:lnSpc>
                <a:spcPct val="150000"/>
              </a:lnSpc>
            </a:pPr>
            <a:r>
              <a:rPr lang="en-US" dirty="0"/>
              <a:t>Once all the necessary information is gathered, appraisal decisions may be made</a:t>
            </a:r>
          </a:p>
          <a:p>
            <a:pPr marL="0" indent="0">
              <a:lnSpc>
                <a:spcPct val="150000"/>
              </a:lnSpc>
              <a:buNone/>
            </a:pPr>
            <a:r>
              <a:rPr lang="en-US" b="1" dirty="0">
                <a:solidFill>
                  <a:srgbClr val="FF0000"/>
                </a:solidFill>
              </a:rPr>
              <a:t>Step 5</a:t>
            </a:r>
            <a:r>
              <a:rPr lang="en-US" b="1" dirty="0">
                <a:solidFill>
                  <a:srgbClr val="00B050"/>
                </a:solidFill>
              </a:rPr>
              <a:t>. List the records</a:t>
            </a:r>
          </a:p>
          <a:p>
            <a:pPr marL="0" indent="0">
              <a:lnSpc>
                <a:spcPct val="150000"/>
              </a:lnSpc>
              <a:buNone/>
            </a:pPr>
            <a:endParaRPr lang="en-US" b="1" dirty="0">
              <a:solidFill>
                <a:srgbClr val="00B050"/>
              </a:solidFill>
            </a:endParaRPr>
          </a:p>
        </p:txBody>
      </p:sp>
    </p:spTree>
    <p:extLst>
      <p:ext uri="{BB962C8B-B14F-4D97-AF65-F5344CB8AC3E}">
        <p14:creationId xmlns:p14="http://schemas.microsoft.com/office/powerpoint/2010/main" val="146660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3C4C-0A84-299C-2A41-9F71E8C74D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1AF1EA-442B-0187-2EA7-3CD39783929E}"/>
              </a:ext>
            </a:extLst>
          </p:cNvPr>
          <p:cNvSpPr>
            <a:spLocks noGrp="1"/>
          </p:cNvSpPr>
          <p:nvPr>
            <p:ph idx="1"/>
          </p:nvPr>
        </p:nvSpPr>
        <p:spPr>
          <a:xfrm>
            <a:off x="1813932" y="564995"/>
            <a:ext cx="9196039" cy="5731728"/>
          </a:xfrm>
        </p:spPr>
        <p:txBody>
          <a:bodyPr>
            <a:normAutofit/>
          </a:bodyPr>
          <a:lstStyle/>
          <a:p>
            <a:pPr marL="0" indent="0" algn="ctr">
              <a:buNone/>
            </a:pPr>
            <a:r>
              <a:rPr lang="en-US" sz="3200" b="1" u="sng" dirty="0">
                <a:solidFill>
                  <a:srgbClr val="FF0000"/>
                </a:solidFill>
              </a:rPr>
              <a:t>The Process of Appraisal…Con’t.</a:t>
            </a:r>
            <a:endParaRPr lang="en-US" sz="3200" dirty="0">
              <a:latin typeface="Calibri "/>
            </a:endParaRPr>
          </a:p>
          <a:p>
            <a:pPr marL="0" indent="0">
              <a:lnSpc>
                <a:spcPct val="150000"/>
              </a:lnSpc>
              <a:buNone/>
            </a:pPr>
            <a:r>
              <a:rPr lang="en-US" b="1" dirty="0">
                <a:solidFill>
                  <a:srgbClr val="FF0000"/>
                </a:solidFill>
              </a:rPr>
              <a:t>Step 6. </a:t>
            </a:r>
            <a:r>
              <a:rPr lang="en-US" b="1" dirty="0">
                <a:solidFill>
                  <a:srgbClr val="00B050"/>
                </a:solidFill>
              </a:rPr>
              <a:t>Access the value and mark the list</a:t>
            </a:r>
          </a:p>
          <a:p>
            <a:pPr marL="0" indent="0">
              <a:lnSpc>
                <a:spcPct val="150000"/>
              </a:lnSpc>
              <a:buNone/>
            </a:pPr>
            <a:endParaRPr lang="en-US" b="1" dirty="0">
              <a:solidFill>
                <a:srgbClr val="00B050"/>
              </a:solidFill>
            </a:endParaRPr>
          </a:p>
        </p:txBody>
      </p:sp>
      <p:pic>
        <p:nvPicPr>
          <p:cNvPr id="4" name="Picture 3">
            <a:extLst>
              <a:ext uri="{FF2B5EF4-FFF2-40B4-BE49-F238E27FC236}">
                <a16:creationId xmlns:a16="http://schemas.microsoft.com/office/drawing/2014/main" id="{6F62E4EA-8E75-7629-B969-34485D943B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667" y="2079616"/>
            <a:ext cx="6996283" cy="3800794"/>
          </a:xfrm>
          <a:prstGeom prst="rect">
            <a:avLst/>
          </a:prstGeom>
        </p:spPr>
      </p:pic>
    </p:spTree>
    <p:extLst>
      <p:ext uri="{BB962C8B-B14F-4D97-AF65-F5344CB8AC3E}">
        <p14:creationId xmlns:p14="http://schemas.microsoft.com/office/powerpoint/2010/main" val="1001797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24F2-47C1-3A52-217E-CFF5A2AA3C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19B16-C6A0-2002-00BF-7EAA83663137}"/>
              </a:ext>
            </a:extLst>
          </p:cNvPr>
          <p:cNvSpPr>
            <a:spLocks noGrp="1"/>
          </p:cNvSpPr>
          <p:nvPr>
            <p:ph idx="1"/>
          </p:nvPr>
        </p:nvSpPr>
        <p:spPr>
          <a:xfrm>
            <a:off x="1813932" y="564994"/>
            <a:ext cx="9196039" cy="6014225"/>
          </a:xfrm>
        </p:spPr>
        <p:txBody>
          <a:bodyPr>
            <a:normAutofit/>
          </a:bodyPr>
          <a:lstStyle/>
          <a:p>
            <a:pPr marL="0" indent="0" algn="ctr">
              <a:buNone/>
            </a:pPr>
            <a:r>
              <a:rPr lang="en-US" sz="3200" b="1" u="sng" dirty="0">
                <a:solidFill>
                  <a:srgbClr val="FF0000"/>
                </a:solidFill>
              </a:rPr>
              <a:t>The Process of Appraisal…Con’t.</a:t>
            </a:r>
            <a:endParaRPr lang="en-US" sz="3200" dirty="0">
              <a:latin typeface="Calibri "/>
            </a:endParaRPr>
          </a:p>
          <a:p>
            <a:pPr marL="0" indent="0">
              <a:lnSpc>
                <a:spcPct val="150000"/>
              </a:lnSpc>
              <a:buNone/>
            </a:pPr>
            <a:r>
              <a:rPr lang="en-US" b="1" dirty="0">
                <a:solidFill>
                  <a:srgbClr val="FF0000"/>
                </a:solidFill>
              </a:rPr>
              <a:t>Step 7</a:t>
            </a:r>
            <a:r>
              <a:rPr lang="en-US" b="1" dirty="0">
                <a:solidFill>
                  <a:srgbClr val="00B050"/>
                </a:solidFill>
              </a:rPr>
              <a:t>. Consult with stakeholders</a:t>
            </a:r>
          </a:p>
          <a:p>
            <a:pPr>
              <a:lnSpc>
                <a:spcPct val="150000"/>
              </a:lnSpc>
            </a:pPr>
            <a:r>
              <a:rPr lang="en-US" dirty="0"/>
              <a:t>Communicate with stakeholders </a:t>
            </a:r>
          </a:p>
          <a:p>
            <a:pPr>
              <a:lnSpc>
                <a:spcPct val="150000"/>
              </a:lnSpc>
            </a:pPr>
            <a:r>
              <a:rPr lang="en-US" dirty="0"/>
              <a:t>Remember, you don’t have to listen to them, but they can have some very good ideas.</a:t>
            </a:r>
          </a:p>
          <a:p>
            <a:pPr>
              <a:lnSpc>
                <a:spcPct val="150000"/>
              </a:lnSpc>
            </a:pPr>
            <a:r>
              <a:rPr lang="en-US" b="1" dirty="0">
                <a:solidFill>
                  <a:srgbClr val="FF0000"/>
                </a:solidFill>
              </a:rPr>
              <a:t>Step 8</a:t>
            </a:r>
            <a:r>
              <a:rPr lang="en-US" b="1" dirty="0">
                <a:solidFill>
                  <a:srgbClr val="00B050"/>
                </a:solidFill>
              </a:rPr>
              <a:t>. Write the appraisal report </a:t>
            </a:r>
          </a:p>
          <a:p>
            <a:pPr>
              <a:lnSpc>
                <a:spcPct val="150000"/>
              </a:lnSpc>
            </a:pPr>
            <a:r>
              <a:rPr lang="en-US" dirty="0"/>
              <a:t>Using the template to document the appraisal decisions. </a:t>
            </a:r>
          </a:p>
          <a:p>
            <a:pPr>
              <a:lnSpc>
                <a:spcPct val="150000"/>
              </a:lnSpc>
            </a:pPr>
            <a:r>
              <a:rPr lang="en-US" dirty="0"/>
              <a:t>Incorporate all information you’ve gathered so far</a:t>
            </a:r>
            <a:endParaRPr lang="en-US" b="1" dirty="0">
              <a:solidFill>
                <a:srgbClr val="00B050"/>
              </a:solidFill>
            </a:endParaRPr>
          </a:p>
        </p:txBody>
      </p:sp>
    </p:spTree>
    <p:extLst>
      <p:ext uri="{BB962C8B-B14F-4D97-AF65-F5344CB8AC3E}">
        <p14:creationId xmlns:p14="http://schemas.microsoft.com/office/powerpoint/2010/main" val="2854413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F9151-3FFC-841C-D145-518F18C5FF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D33C65-5CE7-9021-2403-53D32F1D805C}"/>
              </a:ext>
            </a:extLst>
          </p:cNvPr>
          <p:cNvSpPr>
            <a:spLocks noGrp="1"/>
          </p:cNvSpPr>
          <p:nvPr>
            <p:ph idx="1"/>
          </p:nvPr>
        </p:nvSpPr>
        <p:spPr>
          <a:xfrm>
            <a:off x="1813932" y="564994"/>
            <a:ext cx="9196039" cy="6014225"/>
          </a:xfrm>
        </p:spPr>
        <p:txBody>
          <a:bodyPr>
            <a:normAutofit/>
          </a:bodyPr>
          <a:lstStyle/>
          <a:p>
            <a:pPr marL="0" indent="0" algn="ctr">
              <a:buNone/>
            </a:pPr>
            <a:r>
              <a:rPr lang="en-US" sz="3200" b="1" u="sng" dirty="0">
                <a:solidFill>
                  <a:srgbClr val="FF0000"/>
                </a:solidFill>
              </a:rPr>
              <a:t>The Process of Appraisal…Con’t.</a:t>
            </a:r>
            <a:endParaRPr lang="en-US" dirty="0">
              <a:latin typeface="Calibri "/>
            </a:endParaRPr>
          </a:p>
          <a:p>
            <a:pPr marL="0" indent="0">
              <a:lnSpc>
                <a:spcPct val="150000"/>
              </a:lnSpc>
              <a:buNone/>
            </a:pPr>
            <a:r>
              <a:rPr lang="en-US" b="1" dirty="0">
                <a:solidFill>
                  <a:srgbClr val="FF0000"/>
                </a:solidFill>
              </a:rPr>
              <a:t>Step 9</a:t>
            </a:r>
            <a:r>
              <a:rPr lang="en-US" b="1" dirty="0">
                <a:solidFill>
                  <a:srgbClr val="00B050"/>
                </a:solidFill>
              </a:rPr>
              <a:t>. Gain approval </a:t>
            </a:r>
          </a:p>
          <a:p>
            <a:pPr>
              <a:lnSpc>
                <a:spcPct val="150000"/>
              </a:lnSpc>
            </a:pPr>
            <a:r>
              <a:rPr lang="en-US" dirty="0"/>
              <a:t>Approved the progress from the assigned bodies. </a:t>
            </a:r>
          </a:p>
          <a:p>
            <a:pPr>
              <a:lnSpc>
                <a:spcPct val="150000"/>
              </a:lnSpc>
            </a:pPr>
            <a:r>
              <a:rPr lang="en-US" dirty="0"/>
              <a:t>May be they will be organizational and national.</a:t>
            </a:r>
          </a:p>
          <a:p>
            <a:pPr>
              <a:lnSpc>
                <a:spcPct val="150000"/>
              </a:lnSpc>
            </a:pPr>
            <a:r>
              <a:rPr lang="en-US" dirty="0"/>
              <a:t>Finally implement the appraisal decision.</a:t>
            </a:r>
            <a:endParaRPr lang="en-US" b="1" dirty="0">
              <a:solidFill>
                <a:srgbClr val="00B050"/>
              </a:solidFill>
            </a:endParaRPr>
          </a:p>
        </p:txBody>
      </p:sp>
    </p:spTree>
    <p:extLst>
      <p:ext uri="{BB962C8B-B14F-4D97-AF65-F5344CB8AC3E}">
        <p14:creationId xmlns:p14="http://schemas.microsoft.com/office/powerpoint/2010/main" val="323994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1164</Words>
  <Application>Microsoft Office PowerPoint</Application>
  <PresentationFormat>Widescreen</PresentationFormat>
  <Paragraphs>113</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Hanael Sisay</dc:creator>
  <cp:lastModifiedBy>Hanael Sisay</cp:lastModifiedBy>
  <cp:revision>32</cp:revision>
  <dcterms:created xsi:type="dcterms:W3CDTF">2025-03-26T02:36:12Z</dcterms:created>
  <dcterms:modified xsi:type="dcterms:W3CDTF">2025-03-26T11:45:39Z</dcterms:modified>
</cp:coreProperties>
</file>